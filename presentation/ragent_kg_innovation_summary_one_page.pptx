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4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08"/>
    <p:restoredTop sz="96510"/>
  </p:normalViewPr>
  <p:slideViewPr>
    <p:cSldViewPr snapToGrid="0" snapToObjects="1">
      <p:cViewPr>
        <p:scale>
          <a:sx n="150" d="100"/>
          <a:sy n="150" d="100"/>
        </p:scale>
        <p:origin x="2632" y="1184"/>
      </p:cViewPr>
      <p:guideLst/>
    </p:cSldViewPr>
  </p:slideViewPr>
  <p:notesTextViewPr>
    <p:cViewPr>
      <p:scale>
        <a:sx n="1" d="1"/>
        <a:sy n="1" d="1"/>
      </p:scale>
      <p:origin x="0" y="-61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507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服务器级 </a:t>
            </a:r>
            <a:r>
              <a:rPr lang="en" altLang="zh-CN" b="1" dirty="0" err="1"/>
              <a:t>FoodScience</a:t>
            </a:r>
            <a:r>
              <a:rPr lang="en" altLang="zh-CN" b="1" dirty="0"/>
              <a:t> </a:t>
            </a:r>
            <a:r>
              <a:rPr lang="zh-CN" altLang="en-US" b="1" dirty="0"/>
              <a:t>图谱验证</a:t>
            </a:r>
            <a:r>
              <a:rPr lang="zh-CN" altLang="en-US" sz="1200" b="1" kern="1200" dirty="0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底座</a:t>
            </a:r>
            <a:br>
              <a:rPr lang="zh-CN" altLang="en-US" dirty="0"/>
            </a:br>
            <a:r>
              <a:rPr lang="zh-CN" altLang="en-US" dirty="0"/>
              <a:t>当前系统运行在 </a:t>
            </a:r>
            <a:r>
              <a:rPr lang="en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FoodScience_KG_final_sharded</a:t>
            </a:r>
            <a:r>
              <a:rPr lang="en" altLang="zh-CN" dirty="0"/>
              <a:t> </a:t>
            </a:r>
            <a:r>
              <a:rPr lang="zh-CN" altLang="en-US" dirty="0"/>
              <a:t>上，覆盖 </a:t>
            </a:r>
            <a:r>
              <a:rPr lang="en-US" altLang="zh-CN" dirty="0"/>
              <a:t>6,520 </a:t>
            </a:r>
            <a:r>
              <a:rPr lang="zh-CN" altLang="en-US" dirty="0"/>
              <a:t>篇文档、</a:t>
            </a:r>
            <a:r>
              <a:rPr lang="en-US" altLang="zh-CN" dirty="0"/>
              <a:t>58,184 </a:t>
            </a:r>
            <a:r>
              <a:rPr lang="zh-CN" altLang="en-US" dirty="0"/>
              <a:t>个 </a:t>
            </a:r>
            <a:r>
              <a:rPr lang="en" altLang="zh-CN" dirty="0"/>
              <a:t>chunk</a:t>
            </a:r>
            <a:r>
              <a:rPr lang="zh-CN" altLang="en" dirty="0"/>
              <a:t>、</a:t>
            </a:r>
            <a:r>
              <a:rPr lang="en" altLang="zh-CN" dirty="0"/>
              <a:t>228,259 </a:t>
            </a:r>
            <a:r>
              <a:rPr lang="zh-CN" altLang="en-US" dirty="0"/>
              <a:t>个实体与 </a:t>
            </a:r>
            <a:r>
              <a:rPr lang="en-US" altLang="zh-CN" dirty="0"/>
              <a:t>905,580 </a:t>
            </a:r>
            <a:r>
              <a:rPr lang="zh-CN" altLang="en-US" dirty="0"/>
              <a:t>条关系边，形成约 </a:t>
            </a:r>
            <a:r>
              <a:rPr lang="en-US" altLang="zh-CN" dirty="0"/>
              <a:t>24 </a:t>
            </a:r>
            <a:r>
              <a:rPr lang="en" altLang="zh-CN" dirty="0"/>
              <a:t>GB </a:t>
            </a:r>
            <a:r>
              <a:rPr lang="zh-CN" altLang="en-US" dirty="0"/>
              <a:t>的单项目领域知识图谱，用于验证框架在真实大规模食品科学场景下的可用性。</a:t>
            </a:r>
          </a:p>
          <a:p>
            <a:r>
              <a:rPr lang="en" altLang="zh-CN" b="1" dirty="0"/>
              <a:t>Evidence-native </a:t>
            </a:r>
            <a:r>
              <a:rPr lang="zh-CN" altLang="en-US" b="1" dirty="0"/>
              <a:t>多模态知识图谱构建</a:t>
            </a:r>
            <a:br>
              <a:rPr lang="zh-CN" altLang="en-US" dirty="0"/>
            </a:br>
            <a:r>
              <a:rPr lang="en" altLang="zh-CN" dirty="0" err="1"/>
              <a:t>RAgent</a:t>
            </a:r>
            <a:r>
              <a:rPr lang="en" altLang="zh-CN" dirty="0"/>
              <a:t> </a:t>
            </a:r>
            <a:r>
              <a:rPr lang="zh-CN" altLang="en-US" dirty="0"/>
              <a:t>将文档解析、</a:t>
            </a:r>
            <a:r>
              <a:rPr lang="en" altLang="zh-CN" dirty="0"/>
              <a:t>Markdown AST</a:t>
            </a:r>
            <a:r>
              <a:rPr lang="zh-CN" altLang="en" dirty="0"/>
              <a:t>、</a:t>
            </a:r>
            <a:r>
              <a:rPr lang="zh-CN" altLang="en-US" dirty="0"/>
              <a:t>图像语义、表格行级结构统一映射为 </a:t>
            </a:r>
            <a:r>
              <a:rPr lang="en" altLang="zh-CN" dirty="0"/>
              <a:t>Entity-Relation-Chunk </a:t>
            </a:r>
            <a:r>
              <a:rPr lang="zh-CN" altLang="en-US" dirty="0"/>
              <a:t>证据图，使每条问答证据都能双向追溯到真实 </a:t>
            </a:r>
            <a:r>
              <a:rPr lang="en" altLang="zh-CN" dirty="0"/>
              <a:t>chunk</a:t>
            </a:r>
            <a:r>
              <a:rPr lang="zh-CN" altLang="en" dirty="0"/>
              <a:t>；</a:t>
            </a:r>
            <a:r>
              <a:rPr lang="zh-CN" altLang="en-US" dirty="0"/>
              <a:t>在 </a:t>
            </a:r>
            <a:r>
              <a:rPr lang="en-US" altLang="zh-CN" dirty="0"/>
              <a:t>331 </a:t>
            </a:r>
            <a:r>
              <a:rPr lang="zh-CN" altLang="en-US" dirty="0"/>
              <a:t>条必需证据链中实现 </a:t>
            </a:r>
            <a:r>
              <a:rPr lang="en-US" altLang="zh-CN" dirty="0"/>
              <a:t>0 </a:t>
            </a:r>
            <a:r>
              <a:rPr lang="zh-CN" altLang="en-US" dirty="0"/>
              <a:t>伪出处、</a:t>
            </a:r>
            <a:r>
              <a:rPr lang="en-US" altLang="zh-CN" dirty="0"/>
              <a:t>0 </a:t>
            </a:r>
            <a:r>
              <a:rPr lang="zh-CN" altLang="en-US" dirty="0"/>
              <a:t>虚构 </a:t>
            </a:r>
            <a:r>
              <a:rPr lang="en" altLang="zh-CN" dirty="0"/>
              <a:t>chunk</a:t>
            </a:r>
            <a:r>
              <a:rPr lang="zh-CN" altLang="en" dirty="0"/>
              <a:t>。</a:t>
            </a:r>
          </a:p>
          <a:p>
            <a:r>
              <a:rPr lang="en" altLang="zh-CN" b="1" dirty="0"/>
              <a:t>Coverage-aware </a:t>
            </a:r>
            <a:r>
              <a:rPr lang="zh-CN" altLang="en-US" b="1" dirty="0"/>
              <a:t>混合证据检索机制</a:t>
            </a:r>
            <a:br>
              <a:rPr lang="zh-CN" altLang="en-US" dirty="0"/>
            </a:br>
            <a:r>
              <a:rPr lang="zh-CN" altLang="en-US" dirty="0"/>
              <a:t>系统融合 </a:t>
            </a:r>
            <a:r>
              <a:rPr lang="en" altLang="zh-CN" dirty="0"/>
              <a:t>chunk/entity/relation </a:t>
            </a:r>
            <a:r>
              <a:rPr lang="zh-CN" altLang="en-US" dirty="0"/>
              <a:t>三路向量召回、图扩展、查询变体、重排序与覆盖率感知筛选，使检索从“相似度优先”升级为“证据覆盖优先”；消融实验中必需证据覆盖率提升 </a:t>
            </a:r>
            <a:r>
              <a:rPr lang="en-US" altLang="zh-CN" dirty="0"/>
              <a:t>34.1%</a:t>
            </a:r>
            <a:r>
              <a:rPr lang="zh-CN" altLang="en-US" dirty="0"/>
              <a:t>，</a:t>
            </a:r>
            <a:r>
              <a:rPr lang="en" altLang="zh-CN" dirty="0"/>
              <a:t>Graph Evidence </a:t>
            </a:r>
            <a:r>
              <a:rPr lang="en" altLang="zh-CN" dirty="0" err="1"/>
              <a:t>Recall@K</a:t>
            </a:r>
            <a:r>
              <a:rPr lang="en" altLang="zh-CN" dirty="0"/>
              <a:t> </a:t>
            </a:r>
            <a:r>
              <a:rPr lang="zh-CN" altLang="en-US" dirty="0"/>
              <a:t>提升 </a:t>
            </a:r>
            <a:r>
              <a:rPr lang="en-US" altLang="zh-CN" dirty="0"/>
              <a:t>51.8%</a:t>
            </a:r>
            <a:r>
              <a:rPr lang="zh-CN" altLang="en-US" dirty="0"/>
              <a:t>，</a:t>
            </a:r>
            <a:r>
              <a:rPr lang="en" altLang="zh-CN" dirty="0"/>
              <a:t>B7 </a:t>
            </a:r>
            <a:r>
              <a:rPr lang="zh-CN" altLang="en-US" dirty="0"/>
              <a:t>配置下覆盖率较基线提升 </a:t>
            </a:r>
            <a:r>
              <a:rPr lang="en-US" altLang="zh-CN" dirty="0"/>
              <a:t>47.3%</a:t>
            </a:r>
            <a:r>
              <a:rPr lang="zh-CN" altLang="en-US" dirty="0"/>
              <a:t>。</a:t>
            </a:r>
          </a:p>
          <a:p>
            <a:r>
              <a:rPr lang="en" altLang="zh-CN" b="1" dirty="0"/>
              <a:t>ANN sidecar </a:t>
            </a:r>
            <a:r>
              <a:rPr lang="zh-CN" altLang="en-US" b="1" dirty="0"/>
              <a:t>驱动的低延迟检索加速</a:t>
            </a:r>
            <a:br>
              <a:rPr lang="zh-CN" altLang="en-US" dirty="0"/>
            </a:br>
            <a:r>
              <a:rPr lang="zh-CN" altLang="en-US" dirty="0"/>
              <a:t>通过 </a:t>
            </a:r>
            <a:r>
              <a:rPr lang="en" altLang="zh-CN" dirty="0"/>
              <a:t>FAISS HNSW sidecar </a:t>
            </a:r>
            <a:r>
              <a:rPr lang="zh-CN" altLang="en-US" dirty="0"/>
              <a:t>将高维向量近似检索从原始 </a:t>
            </a:r>
            <a:r>
              <a:rPr lang="en" altLang="zh-CN" dirty="0"/>
              <a:t>Nano </a:t>
            </a:r>
            <a:r>
              <a:rPr lang="zh-CN" altLang="en-US" dirty="0"/>
              <a:t>路径中解耦出来，在保持证据召回稳定的同时显著压缩检索延迟；</a:t>
            </a:r>
            <a:r>
              <a:rPr lang="en-US" altLang="zh-CN" dirty="0"/>
              <a:t>10 </a:t>
            </a:r>
            <a:r>
              <a:rPr lang="zh-CN" altLang="en-US" dirty="0"/>
              <a:t>题 </a:t>
            </a:r>
            <a:r>
              <a:rPr lang="en" altLang="zh-CN" dirty="0"/>
              <a:t>retrieval-only </a:t>
            </a:r>
            <a:r>
              <a:rPr lang="zh-CN" altLang="en-US" dirty="0"/>
              <a:t>测试中总检索中位耗时由 </a:t>
            </a:r>
            <a:r>
              <a:rPr lang="en-US" altLang="zh-CN" dirty="0"/>
              <a:t>75.76</a:t>
            </a:r>
            <a:r>
              <a:rPr lang="en" altLang="zh-CN" dirty="0"/>
              <a:t>s </a:t>
            </a:r>
            <a:r>
              <a:rPr lang="zh-CN" altLang="en-US" dirty="0"/>
              <a:t>降至 </a:t>
            </a:r>
            <a:r>
              <a:rPr lang="en-US" altLang="zh-CN" dirty="0"/>
              <a:t>6.59</a:t>
            </a:r>
            <a:r>
              <a:rPr lang="en" altLang="zh-CN" dirty="0"/>
              <a:t>s</a:t>
            </a:r>
            <a:r>
              <a:rPr lang="zh-CN" altLang="en" dirty="0"/>
              <a:t>，</a:t>
            </a:r>
            <a:r>
              <a:rPr lang="zh-CN" altLang="en-US" dirty="0"/>
              <a:t>下降 </a:t>
            </a:r>
            <a:r>
              <a:rPr lang="en-US" altLang="zh-CN" dirty="0"/>
              <a:t>91.3%</a:t>
            </a:r>
            <a:r>
              <a:rPr lang="zh-CN" altLang="en-US" dirty="0"/>
              <a:t>（约 </a:t>
            </a:r>
            <a:r>
              <a:rPr lang="en-US" altLang="zh-CN" dirty="0"/>
              <a:t>11.5×</a:t>
            </a:r>
            <a:r>
              <a:rPr lang="zh-CN" altLang="en-US" dirty="0"/>
              <a:t>），关系检索由 </a:t>
            </a:r>
            <a:r>
              <a:rPr lang="en-US" altLang="zh-CN" dirty="0"/>
              <a:t>54.15</a:t>
            </a:r>
            <a:r>
              <a:rPr lang="en" altLang="zh-CN" dirty="0"/>
              <a:t>s </a:t>
            </a:r>
            <a:r>
              <a:rPr lang="zh-CN" altLang="en-US" dirty="0"/>
              <a:t>降至 </a:t>
            </a:r>
            <a:r>
              <a:rPr lang="en-US" altLang="zh-CN" dirty="0"/>
              <a:t>0.018</a:t>
            </a:r>
            <a:r>
              <a:rPr lang="en" altLang="zh-CN" dirty="0"/>
              <a:t>s</a:t>
            </a:r>
            <a:r>
              <a:rPr lang="zh-CN" altLang="en" dirty="0"/>
              <a:t>，</a:t>
            </a:r>
            <a:r>
              <a:rPr lang="zh-CN" altLang="en-US" dirty="0"/>
              <a:t>下降 </a:t>
            </a:r>
            <a:r>
              <a:rPr lang="en-US" altLang="zh-CN" dirty="0"/>
              <a:t>99.97%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跨系统问答与证据质量领先</a:t>
            </a:r>
            <a:br>
              <a:rPr lang="zh-CN" altLang="en-US" dirty="0"/>
            </a:br>
            <a:r>
              <a:rPr lang="zh-CN" altLang="en-US" dirty="0"/>
              <a:t>在 </a:t>
            </a:r>
            <a:r>
              <a:rPr lang="en" altLang="zh-CN" dirty="0"/>
              <a:t>DQE-Bench </a:t>
            </a:r>
            <a:r>
              <a:rPr lang="zh-CN" altLang="en-US" dirty="0"/>
              <a:t>四系统对比中，</a:t>
            </a:r>
            <a:r>
              <a:rPr lang="en" altLang="zh-CN" dirty="0" err="1"/>
              <a:t>RAgent</a:t>
            </a:r>
            <a:r>
              <a:rPr lang="en" altLang="zh-CN" dirty="0"/>
              <a:t>-FAISS </a:t>
            </a:r>
            <a:r>
              <a:rPr lang="zh-CN" altLang="en-US" dirty="0"/>
              <a:t>在检索、问答与推理链路上整体领先，</a:t>
            </a:r>
            <a:r>
              <a:rPr lang="en" altLang="zh-CN" dirty="0"/>
              <a:t>LLM / Rule </a:t>
            </a:r>
            <a:r>
              <a:rPr lang="zh-CN" altLang="en-US" dirty="0"/>
              <a:t>评分达到 </a:t>
            </a:r>
            <a:r>
              <a:rPr lang="en-US" altLang="zh-CN" dirty="0"/>
              <a:t>7.72 / 7.46</a:t>
            </a:r>
            <a:r>
              <a:rPr lang="zh-CN" altLang="en-US" dirty="0"/>
              <a:t>，超过 </a:t>
            </a:r>
            <a:r>
              <a:rPr lang="en" altLang="zh-CN" dirty="0"/>
              <a:t>enhanced Milvus </a:t>
            </a:r>
            <a:r>
              <a:rPr lang="zh-CN" altLang="en-US" dirty="0"/>
              <a:t>的 </a:t>
            </a:r>
            <a:r>
              <a:rPr lang="en-US" altLang="zh-CN" dirty="0"/>
              <a:t>6.78 / 4.90 </a:t>
            </a:r>
            <a:r>
              <a:rPr lang="zh-CN" altLang="en-US" dirty="0"/>
              <a:t>与 </a:t>
            </a:r>
            <a:r>
              <a:rPr lang="en" altLang="zh-CN" dirty="0"/>
              <a:t>baseline </a:t>
            </a:r>
            <a:r>
              <a:rPr lang="zh-CN" altLang="en-US" dirty="0"/>
              <a:t>的 </a:t>
            </a:r>
            <a:r>
              <a:rPr lang="en-US" altLang="zh-CN" dirty="0"/>
              <a:t>5.67 / 4.74</a:t>
            </a:r>
            <a:r>
              <a:rPr lang="zh-CN" altLang="en-US" dirty="0"/>
              <a:t>；证据质量达到 </a:t>
            </a:r>
            <a:r>
              <a:rPr lang="en-US" altLang="zh-CN" dirty="0"/>
              <a:t>2.80/3</a:t>
            </a:r>
            <a:r>
              <a:rPr lang="zh-CN" altLang="en-US" dirty="0"/>
              <a:t>，较 </a:t>
            </a:r>
            <a:r>
              <a:rPr lang="en" altLang="zh-CN" dirty="0"/>
              <a:t>enhanced </a:t>
            </a:r>
            <a:r>
              <a:rPr lang="zh-CN" altLang="en-US" dirty="0"/>
              <a:t>方案提升约 </a:t>
            </a:r>
            <a:r>
              <a:rPr lang="en-US" altLang="zh-CN" dirty="0"/>
              <a:t>177%</a:t>
            </a:r>
            <a:r>
              <a:rPr lang="zh-CN" altLang="en-US" dirty="0"/>
              <a:t>，并在 </a:t>
            </a:r>
            <a:r>
              <a:rPr lang="en" altLang="zh-CN" dirty="0"/>
              <a:t>Rule 8/8</a:t>
            </a:r>
            <a:r>
              <a:rPr lang="zh-CN" altLang="en" dirty="0"/>
              <a:t>、</a:t>
            </a:r>
            <a:r>
              <a:rPr lang="en" altLang="zh-CN" dirty="0"/>
              <a:t>LLM Judge 6/8 </a:t>
            </a:r>
            <a:r>
              <a:rPr lang="zh-CN" altLang="en-US" dirty="0"/>
              <a:t>题型上取得领先。</a:t>
            </a:r>
          </a:p>
          <a:p>
            <a:endParaRPr lang="en-US" dirty="0"/>
          </a:p>
          <a:p>
            <a:endParaRPr lang="en-US" dirty="0"/>
          </a:p>
          <a:p>
            <a:r>
              <a:rPr lang="en" altLang="zh-CN" b="1" dirty="0"/>
              <a:t>“FAISS HNSW </a:t>
            </a:r>
            <a:r>
              <a:rPr lang="zh-CN" altLang="en-US" b="1" dirty="0"/>
              <a:t>旁路索引”</a:t>
            </a:r>
            <a:endParaRPr lang="zh-CN" altLang="en-US" dirty="0"/>
          </a:p>
          <a:p>
            <a:r>
              <a:rPr lang="zh-CN" altLang="en-US" dirty="0"/>
              <a:t>含义是：</a:t>
            </a:r>
          </a:p>
          <a:p>
            <a:r>
              <a:rPr lang="en" altLang="zh-CN" b="1" dirty="0"/>
              <a:t>FAISS</a:t>
            </a:r>
            <a:r>
              <a:rPr lang="zh-CN" altLang="en" dirty="0"/>
              <a:t>：</a:t>
            </a:r>
            <a:r>
              <a:rPr lang="zh-CN" altLang="en-US" dirty="0"/>
              <a:t>高性能向量检索库。</a:t>
            </a:r>
          </a:p>
          <a:p>
            <a:r>
              <a:rPr lang="en" altLang="zh-CN" b="1" dirty="0"/>
              <a:t>HNSW</a:t>
            </a:r>
            <a:r>
              <a:rPr lang="zh-CN" altLang="en" dirty="0"/>
              <a:t>：</a:t>
            </a:r>
            <a:r>
              <a:rPr lang="zh-CN" altLang="en-US" dirty="0"/>
              <a:t>一种近似最近邻搜索算法，用图结构加速高维向量检索。</a:t>
            </a:r>
          </a:p>
          <a:p>
            <a:r>
              <a:rPr lang="en" altLang="zh-CN" b="1" dirty="0"/>
              <a:t>sidecar / </a:t>
            </a:r>
            <a:r>
              <a:rPr lang="zh-CN" altLang="en-US" b="1" dirty="0"/>
              <a:t>旁路索引</a:t>
            </a:r>
            <a:r>
              <a:rPr lang="zh-CN" altLang="en-US" dirty="0"/>
              <a:t>：不改动原始知识图谱和向量库主体结构，而是在旁边额外挂一个加速索引，用它来快速完成实体、关系等向量召回。</a:t>
            </a:r>
          </a:p>
          <a:p>
            <a:r>
              <a:rPr lang="zh-CN" altLang="en-US" b="1" dirty="0"/>
              <a:t>通过构建 </a:t>
            </a:r>
            <a:r>
              <a:rPr lang="en" altLang="zh-CN" b="1" dirty="0"/>
              <a:t>FAISS HNSW </a:t>
            </a:r>
            <a:r>
              <a:rPr lang="zh-CN" altLang="en-US" b="1" dirty="0"/>
              <a:t>旁路索引，在不改变原始图谱与向量库结构的前提下，对实体和关系向量检索进行近似加速。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10881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zh-CN" altLang="en-US" sz="2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大规模食品科学</a:t>
            </a:r>
            <a:r>
              <a:rPr lang="en-US" sz="2400" b="1" dirty="0" err="1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图谱</a:t>
            </a:r>
            <a:r>
              <a:rPr lang="zh-CN" altLang="en-US" sz="2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，基于自研</a:t>
            </a:r>
            <a:r>
              <a:rPr lang="en-US" altLang="zh-CN" sz="2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 RAGENT </a:t>
            </a:r>
            <a:r>
              <a:rPr lang="zh-CN" altLang="en-US" sz="2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框架实现混合检索加速与推理问答</a:t>
            </a:r>
            <a:endParaRPr lang="en-US" sz="2400" dirty="0"/>
          </a:p>
        </p:txBody>
      </p:sp>
      <p:pic>
        <p:nvPicPr>
          <p:cNvPr id="5" name="Image 0" descr="/Volumes/SSD1/ragent/gemini_figure/框架图提示词_v7 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03" y="935193"/>
            <a:ext cx="7017933" cy="39217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8033" y="726315"/>
            <a:ext cx="519437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altLang="zh-CN" sz="1000" b="1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RAGENT</a:t>
            </a:r>
            <a:r>
              <a:rPr lang="en-US" sz="1000" b="1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框架图</a:t>
            </a:r>
            <a:r>
              <a:rPr lang="en-US" sz="1000" b="1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：多模态证据摄取 → ERC 图谱 → 混合检索 → 规模化加速 → 可追溯问答</a:t>
            </a:r>
            <a:endParaRPr lang="en-US" sz="1000" b="1" dirty="0"/>
          </a:p>
        </p:txBody>
      </p:sp>
      <p:sp>
        <p:nvSpPr>
          <p:cNvPr id="7" name="Shape 4"/>
          <p:cNvSpPr/>
          <p:nvPr/>
        </p:nvSpPr>
        <p:spPr>
          <a:xfrm>
            <a:off x="402760" y="4967264"/>
            <a:ext cx="6852466" cy="1096685"/>
          </a:xfrm>
          <a:prstGeom prst="roundRect">
            <a:avLst>
              <a:gd name="adj" fmla="val 2419"/>
            </a:avLst>
          </a:prstGeom>
          <a:solidFill>
            <a:srgbClr val="FBFAF8"/>
          </a:solidFill>
          <a:ln w="10160">
            <a:solidFill>
              <a:srgbClr val="E8E2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23791" y="5077709"/>
            <a:ext cx="6094154" cy="1061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服务器级 </a:t>
            </a:r>
            <a:r>
              <a:rPr lang="en-US" sz="1400" b="1" dirty="0" err="1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FoodScience</a:t>
            </a:r>
            <a:r>
              <a:rPr lang="en-US" sz="1400" b="1" dirty="0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 </a:t>
            </a:r>
            <a:r>
              <a:rPr lang="zh-CN" altLang="en-US" sz="1400" b="1" dirty="0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图谱验证底座</a:t>
            </a:r>
          </a:p>
        </p:txBody>
      </p:sp>
      <p:sp>
        <p:nvSpPr>
          <p:cNvPr id="9" name="Shape 6"/>
          <p:cNvSpPr/>
          <p:nvPr/>
        </p:nvSpPr>
        <p:spPr>
          <a:xfrm>
            <a:off x="623793" y="5304748"/>
            <a:ext cx="1858717" cy="216000"/>
          </a:xfrm>
          <a:prstGeom prst="roundRect">
            <a:avLst>
              <a:gd name="adj" fmla="val 21429"/>
            </a:avLst>
          </a:prstGeom>
          <a:solidFill>
            <a:srgbClr val="FFF9F6"/>
          </a:solidFill>
          <a:ln w="7620">
            <a:solidFill>
              <a:srgbClr val="E4D9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93134" y="5369196"/>
            <a:ext cx="1675892" cy="79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24 GB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695805" y="5304748"/>
            <a:ext cx="1904423" cy="216000"/>
          </a:xfrm>
          <a:prstGeom prst="roundRect">
            <a:avLst>
              <a:gd name="adj" fmla="val 21429"/>
            </a:avLst>
          </a:prstGeom>
          <a:solidFill>
            <a:srgbClr val="FFF9F6"/>
          </a:solidFill>
          <a:ln w="7620">
            <a:solidFill>
              <a:srgbClr val="E4D9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2765147" y="5369196"/>
            <a:ext cx="1721599" cy="79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6,520 文档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28759" y="5304748"/>
            <a:ext cx="1904423" cy="216000"/>
          </a:xfrm>
          <a:prstGeom prst="roundRect">
            <a:avLst>
              <a:gd name="adj" fmla="val 21429"/>
            </a:avLst>
          </a:prstGeom>
          <a:solidFill>
            <a:srgbClr val="FFF9F6"/>
          </a:solidFill>
          <a:ln w="7620">
            <a:solidFill>
              <a:srgbClr val="E4D9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898101" y="5369196"/>
            <a:ext cx="1721599" cy="795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905,580 边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3791" y="5499322"/>
            <a:ext cx="6379644" cy="5791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FoodScience</a:t>
            </a:r>
            <a:r>
              <a:rPr lang="zh-CN" altLang="en-US" sz="1000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已形成</a:t>
            </a:r>
            <a:r>
              <a:rPr lang="zh-CN" altLang="en-US" sz="1000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覆盖 </a:t>
            </a:r>
            <a:r>
              <a:rPr lang="en-US" altLang="zh-CN" sz="1000" b="1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6,520 </a:t>
            </a:r>
            <a:r>
              <a:rPr lang="zh-CN" altLang="en-US" sz="1000" b="1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篇文档、</a:t>
            </a:r>
            <a:r>
              <a:rPr lang="en-US" altLang="zh-CN" sz="1000" b="1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58,184 </a:t>
            </a:r>
            <a:r>
              <a:rPr lang="zh-CN" altLang="en-US" sz="1000" b="1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个 </a:t>
            </a:r>
            <a:r>
              <a:rPr lang="en-US" sz="1000" b="1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chunk、228,259 </a:t>
            </a:r>
            <a:r>
              <a:rPr lang="zh-CN" altLang="en-US" sz="1000" b="1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个实体与 </a:t>
            </a:r>
            <a:r>
              <a:rPr lang="en-US" altLang="zh-CN" sz="1000" b="1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905,580 </a:t>
            </a:r>
            <a:r>
              <a:rPr lang="zh-CN" altLang="en-US" sz="1000" b="1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条关系边</a:t>
            </a:r>
            <a:r>
              <a:rPr lang="zh-CN" altLang="en-US" sz="1000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，形成约 </a:t>
            </a:r>
            <a:r>
              <a:rPr lang="en-US" altLang="zh-CN" sz="1000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24 </a:t>
            </a:r>
            <a:r>
              <a:rPr lang="en-US" sz="1000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GB </a:t>
            </a:r>
            <a:r>
              <a:rPr lang="zh-CN" altLang="en-US" sz="1000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的单项目领域</a:t>
            </a:r>
            <a:r>
              <a:rPr lang="en-US" altLang="zh-CN" sz="1000" dirty="0" err="1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的单项目大规模知识图谱</a:t>
            </a:r>
            <a:r>
              <a:rPr lang="zh-CN" altLang="en-US" sz="1000" dirty="0">
                <a:solidFill>
                  <a:srgbClr val="4A4A4A"/>
                </a:solidFill>
                <a:ea typeface="Microsoft YaHei" pitchFamily="34" charset="-122"/>
                <a:cs typeface="Microsoft YaHei" pitchFamily="34" charset="-120"/>
              </a:rPr>
              <a:t>，用于验证框架在真实大规模食品科学场景下的可用性。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24549" y="1079678"/>
            <a:ext cx="4665852" cy="1080000"/>
          </a:xfrm>
          <a:prstGeom prst="roundRect">
            <a:avLst>
              <a:gd name="adj" fmla="val 2586"/>
            </a:avLst>
          </a:prstGeom>
          <a:solidFill>
            <a:srgbClr val="FFFDFC"/>
          </a:solidFill>
          <a:ln w="10160">
            <a:solidFill>
              <a:srgbClr val="E8E2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7424549" y="1079678"/>
            <a:ext cx="94071" cy="1080000"/>
          </a:xfrm>
          <a:prstGeom prst="rect">
            <a:avLst/>
          </a:prstGeom>
          <a:solidFill>
            <a:srgbClr val="2A8C85"/>
          </a:solidFill>
          <a:ln w="12700">
            <a:solidFill>
              <a:srgbClr val="2A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7650317" y="1207694"/>
            <a:ext cx="426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908225" y="1161186"/>
            <a:ext cx="3762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" altLang="zh-CN" sz="1400" b="1" dirty="0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Evidence-native </a:t>
            </a:r>
            <a:r>
              <a:rPr lang="zh-CN" altLang="en-US" sz="1400" b="1" dirty="0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多模态知识图谱构建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687944" y="1439457"/>
            <a:ext cx="4139063" cy="72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RAgent</a:t>
            </a:r>
            <a:r>
              <a:rPr 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 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将文档解析、</a:t>
            </a:r>
            <a:r>
              <a:rPr 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Markdown AST、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图像语义、表格行级结构统一映射为 </a:t>
            </a:r>
            <a:r>
              <a:rPr 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Entity-Relation-Chunk 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证据图，使每条问答证据都能双向追溯到真实 </a:t>
            </a:r>
            <a:r>
              <a:rPr 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chunk；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在 </a:t>
            </a:r>
            <a:r>
              <a:rPr lang="en-US" altLang="zh-CN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331 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条必需证据链中实现 </a:t>
            </a:r>
            <a:r>
              <a:rPr lang="en-US" altLang="zh-CN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0 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伪出处、</a:t>
            </a:r>
            <a:r>
              <a:rPr lang="en-US" altLang="zh-CN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0 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虚构 </a:t>
            </a:r>
            <a:r>
              <a:rPr 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chunk。</a:t>
            </a:r>
          </a:p>
          <a:p>
            <a:pPr>
              <a:lnSpc>
                <a:spcPct val="150000"/>
              </a:lnSpc>
            </a:pP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424549" y="2277019"/>
            <a:ext cx="4665852" cy="1080000"/>
          </a:xfrm>
          <a:prstGeom prst="roundRect">
            <a:avLst>
              <a:gd name="adj" fmla="val 2586"/>
            </a:avLst>
          </a:prstGeom>
          <a:solidFill>
            <a:srgbClr val="FFFDFC"/>
          </a:solidFill>
          <a:ln w="10160">
            <a:solidFill>
              <a:srgbClr val="E8E2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7424549" y="2277019"/>
            <a:ext cx="94071" cy="1080000"/>
          </a:xfrm>
          <a:prstGeom prst="rect">
            <a:avLst/>
          </a:prstGeom>
          <a:solidFill>
            <a:srgbClr val="C66A2E"/>
          </a:solidFill>
          <a:ln w="12700">
            <a:solidFill>
              <a:srgbClr val="C66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7650315" y="2405035"/>
            <a:ext cx="426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908225" y="2358527"/>
            <a:ext cx="3762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Coverage-aware </a:t>
            </a:r>
            <a:r>
              <a:rPr lang="zh-CN" altLang="en-US" sz="1400" b="1" dirty="0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混合证据检索机制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687943" y="2636798"/>
            <a:ext cx="4139063" cy="72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融合 </a:t>
            </a:r>
            <a:r>
              <a:rPr 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chunk/entity/relation 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三路向量召回、图扩展、查询变体、重排与覆盖感知筛选，使检索从“相似度优先”升级为“证据覆盖优先”；</a:t>
            </a:r>
            <a:r>
              <a:rPr 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Graph Evidence </a:t>
            </a:r>
            <a:r>
              <a:rPr lang="en-US" sz="1000" b="1" dirty="0" err="1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Recall@K</a:t>
            </a:r>
            <a:r>
              <a:rPr 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 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提升 </a:t>
            </a:r>
            <a:r>
              <a:rPr lang="en-US" altLang="zh-CN" sz="1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51.8%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，证据覆盖率提升 </a:t>
            </a:r>
            <a:r>
              <a:rPr lang="en-US" altLang="zh-CN" sz="1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47.3%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。</a:t>
            </a:r>
          </a:p>
        </p:txBody>
      </p:sp>
      <p:sp>
        <p:nvSpPr>
          <p:cNvPr id="30" name="Shape 27"/>
          <p:cNvSpPr/>
          <p:nvPr/>
        </p:nvSpPr>
        <p:spPr>
          <a:xfrm>
            <a:off x="7424549" y="3464656"/>
            <a:ext cx="4665852" cy="1080000"/>
          </a:xfrm>
          <a:prstGeom prst="roundRect">
            <a:avLst>
              <a:gd name="adj" fmla="val 2586"/>
            </a:avLst>
          </a:prstGeom>
          <a:solidFill>
            <a:srgbClr val="FFFDFC"/>
          </a:solidFill>
          <a:ln w="10160">
            <a:solidFill>
              <a:srgbClr val="E8E2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8"/>
          <p:cNvSpPr/>
          <p:nvPr/>
        </p:nvSpPr>
        <p:spPr>
          <a:xfrm>
            <a:off x="7424549" y="3464656"/>
            <a:ext cx="94071" cy="1080000"/>
          </a:xfrm>
          <a:prstGeom prst="rect">
            <a:avLst/>
          </a:prstGeom>
          <a:solidFill>
            <a:srgbClr val="B9872D"/>
          </a:solidFill>
          <a:ln w="12700">
            <a:solidFill>
              <a:srgbClr val="B987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7650317" y="3592672"/>
            <a:ext cx="426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908225" y="3546164"/>
            <a:ext cx="3762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err="1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基于旁路索引的高性能</a:t>
            </a:r>
            <a:r>
              <a:rPr lang="zh-CN" altLang="en-US" sz="1400" b="1" dirty="0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低延迟</a:t>
            </a:r>
            <a:r>
              <a:rPr lang="en-US" altLang="zh-CN" sz="1400" b="1" dirty="0" err="1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检索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687944" y="3852618"/>
            <a:ext cx="4272922" cy="72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通过 </a:t>
            </a:r>
            <a:r>
              <a:rPr 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FAISS HNSW sidecar 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实现高维向量近似检索，在保持证据召回稳定的同时显著压缩检索延迟；</a:t>
            </a:r>
            <a:r>
              <a:rPr lang="en-US" altLang="zh-CN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10 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题 </a:t>
            </a:r>
            <a:r>
              <a:rPr 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retrieval-only 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测试中总检索中位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耗时由 </a:t>
            </a:r>
            <a:r>
              <a:rPr lang="en-US" altLang="zh-CN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75.76</a:t>
            </a:r>
            <a:r>
              <a:rPr 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s 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降至 </a:t>
            </a:r>
            <a:r>
              <a:rPr lang="en-US" altLang="zh-CN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6.59</a:t>
            </a:r>
            <a:r>
              <a:rPr 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s，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下降 </a:t>
            </a:r>
            <a:r>
              <a:rPr lang="en-US" altLang="zh-CN" sz="1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91.3%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（约 </a:t>
            </a:r>
            <a:r>
              <a:rPr lang="en-US" altLang="zh-CN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11.5×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）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，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关系检索由 </a:t>
            </a:r>
            <a:r>
              <a:rPr lang="en-US" altLang="zh-CN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54.15</a:t>
            </a:r>
            <a:r>
              <a:rPr 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s 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降至 </a:t>
            </a:r>
            <a:r>
              <a:rPr lang="en-US" altLang="zh-CN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0.018</a:t>
            </a:r>
            <a:r>
              <a:rPr 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s，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下降 </a:t>
            </a:r>
            <a:r>
              <a:rPr lang="en-US" altLang="zh-CN" sz="1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99.97%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。</a:t>
            </a:r>
          </a:p>
          <a:p>
            <a:pPr>
              <a:lnSpc>
                <a:spcPct val="150000"/>
              </a:lnSpc>
            </a:pP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7424549" y="4698218"/>
            <a:ext cx="4665852" cy="1332000"/>
          </a:xfrm>
          <a:prstGeom prst="roundRect">
            <a:avLst>
              <a:gd name="adj" fmla="val 2586"/>
            </a:avLst>
          </a:prstGeom>
          <a:solidFill>
            <a:srgbClr val="FFFDFC"/>
          </a:solidFill>
          <a:ln w="10160">
            <a:solidFill>
              <a:srgbClr val="E8E2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7424549" y="4698220"/>
            <a:ext cx="94071" cy="1332000"/>
          </a:xfrm>
          <a:prstGeom prst="rect">
            <a:avLst/>
          </a:prstGeom>
          <a:solidFill>
            <a:srgbClr val="8B2F2B"/>
          </a:solidFill>
          <a:ln w="12700">
            <a:solidFill>
              <a:srgbClr val="8B2F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7650315" y="4826236"/>
            <a:ext cx="426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908225" y="4779728"/>
            <a:ext cx="3762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8B2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跨系统推理问答与证据质量领先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687943" y="5064500"/>
            <a:ext cx="4139063" cy="72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在与业界标杆知识库 </a:t>
            </a:r>
            <a:r>
              <a:rPr lang="en-US" altLang="zh-CN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Milvus 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的系统对比中，</a:t>
            </a:r>
            <a:r>
              <a:rPr lang="en" altLang="zh-CN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Judge 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综合表现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提升约 </a:t>
            </a:r>
            <a:r>
              <a:rPr lang="en-US" altLang="zh-CN" sz="1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13.9%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" altLang="zh-CN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Rule-based 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综合表现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提升约 </a:t>
            </a:r>
            <a:r>
              <a:rPr lang="en-US" altLang="zh-CN" sz="1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52.2%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证据质量</a:t>
            </a:r>
            <a:r>
              <a:rPr lang="zh-CN" altLang="en-US" sz="1000" b="1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提升约 </a:t>
            </a:r>
            <a:r>
              <a:rPr lang="en-US" altLang="zh-CN" sz="1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177%</a:t>
            </a:r>
            <a:r>
              <a:rPr lang="zh-CN" altLang="en-US" sz="1000" dirty="0">
                <a:solidFill>
                  <a:srgbClr val="4A4A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，得益于更强的证据检索、证据组织与推理链路，再端到端问答质量和规则化评测上均取得稳定优势。</a:t>
            </a:r>
          </a:p>
        </p:txBody>
      </p:sp>
      <p:sp>
        <p:nvSpPr>
          <p:cNvPr id="43" name="Text 40"/>
          <p:cNvSpPr/>
          <p:nvPr/>
        </p:nvSpPr>
        <p:spPr>
          <a:xfrm>
            <a:off x="438912" y="6303399"/>
            <a:ext cx="11448287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RAGENT</a:t>
            </a:r>
            <a:r>
              <a:rPr lang="zh-CN" alt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将食品科学文献转化为可追溯、可推理、低延迟的证据知识引擎，在证据覆盖（</a:t>
            </a:r>
            <a:r>
              <a:rPr lang="en-US" altLang="zh-CN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+34.1%</a:t>
            </a:r>
            <a:r>
              <a:rPr lang="zh-CN" alt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）、图证据召回（</a:t>
            </a:r>
            <a:r>
              <a:rPr lang="en-US" altLang="zh-CN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+51.8%</a:t>
            </a:r>
            <a:r>
              <a:rPr lang="zh-CN" alt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）和</a:t>
            </a:r>
            <a:endParaRPr lang="en-US" altLang="zh-CN" sz="1400" b="1" dirty="0">
              <a:solidFill>
                <a:srgbClr val="8B2F2B"/>
              </a:solidFill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检索时延（</a:t>
            </a:r>
            <a:r>
              <a:rPr lang="en-US" altLang="zh-CN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-91.3%</a:t>
            </a:r>
            <a:r>
              <a:rPr lang="zh-CN" altLang="en-US" sz="1400" b="1" dirty="0">
                <a:solidFill>
                  <a:srgbClr val="8B2F2B"/>
                </a:solidFill>
                <a:ea typeface="Microsoft YaHei" pitchFamily="34" charset="-122"/>
                <a:cs typeface="Microsoft YaHei" pitchFamily="34" charset="-120"/>
              </a:rPr>
              <a:t>）上同时取得量化增益，为食品领域的大规模知识发现、机理推理与可信决策提供可扩展的算法底座。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879</Words>
  <Application>Microsoft Macintosh PowerPoint</Application>
  <PresentationFormat>宽屏</PresentationFormat>
  <Paragraphs>35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Arial</vt:lpstr>
      <vt:lpstr>Office Theme</vt:lpstr>
      <vt:lpstr>PowerPoint 演示文稿</vt:lpstr>
    </vt:vector>
  </TitlesOfParts>
  <Company>RAgent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RAgent 知识图谱框架创新与量化效果</dc:title>
  <dc:subject>RAgent KG innovation and quantified evaluation summary</dc:subject>
  <dc:creator>RAgent Project Team</dc:creator>
  <cp:lastModifiedBy>gwlee1995</cp:lastModifiedBy>
  <cp:revision>128</cp:revision>
  <dcterms:created xsi:type="dcterms:W3CDTF">2026-06-10T08:05:16Z</dcterms:created>
  <dcterms:modified xsi:type="dcterms:W3CDTF">2026-06-10T09:03:36Z</dcterms:modified>
</cp:coreProperties>
</file>