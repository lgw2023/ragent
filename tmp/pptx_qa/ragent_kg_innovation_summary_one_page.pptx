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108813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2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RAgent 知识图谱框架：核心创新与量化效果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8755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ERC 证据图、混合检索、服务器级加速到跨系统问答评测的 4 类凝练结论</a:t>
            </a:r>
            <a:endParaRPr lang="en-US" sz="930" dirty="0"/>
          </a:p>
        </p:txBody>
      </p:sp>
      <p:sp>
        <p:nvSpPr>
          <p:cNvPr id="4" name="Shape 2"/>
          <p:cNvSpPr/>
          <p:nvPr/>
        </p:nvSpPr>
        <p:spPr>
          <a:xfrm>
            <a:off x="347472" y="896112"/>
            <a:ext cx="4224528" cy="2852928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0160">
            <a:solidFill>
              <a:srgbClr val="E8E2DE"/>
            </a:solidFill>
            <a:prstDash val="solid"/>
          </a:ln>
        </p:spPr>
      </p:sp>
      <p:pic>
        <p:nvPicPr>
          <p:cNvPr id="5" name="Image 0" descr="/Volumes/SSD1/ragent/gemini_figure/框架图提示词_v7 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941832"/>
            <a:ext cx="4041648" cy="22585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2064" y="3273552"/>
            <a:ext cx="38404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框架图：多模态证据摄取 → ERC 图谱 → 混合检索 → 规模化加速 → 可追溯问答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47472" y="3904488"/>
            <a:ext cx="4224528" cy="2267712"/>
          </a:xfrm>
          <a:prstGeom prst="roundRect">
            <a:avLst>
              <a:gd name="adj" fmla="val 2419"/>
            </a:avLst>
          </a:prstGeom>
          <a:solidFill>
            <a:srgbClr val="FBFAF8"/>
          </a:solidFill>
          <a:ln w="10160">
            <a:solidFill>
              <a:srgbClr val="E8E2D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4096512"/>
            <a:ext cx="36576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2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服务器端规模验证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66928" y="4462272"/>
            <a:ext cx="1115568" cy="256032"/>
          </a:xfrm>
          <a:prstGeom prst="roundRect">
            <a:avLst>
              <a:gd name="adj" fmla="val 21429"/>
            </a:avLst>
          </a:prstGeom>
          <a:solidFill>
            <a:srgbClr val="FFF9F6"/>
          </a:solidFill>
          <a:ln w="7620">
            <a:solidFill>
              <a:srgbClr val="E4D9D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4498848"/>
            <a:ext cx="10058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8B2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GB</a:t>
            </a:r>
            <a:endParaRPr lang="en-US" sz="860" dirty="0"/>
          </a:p>
        </p:txBody>
      </p:sp>
      <p:sp>
        <p:nvSpPr>
          <p:cNvPr id="11" name="Shape 8"/>
          <p:cNvSpPr/>
          <p:nvPr/>
        </p:nvSpPr>
        <p:spPr>
          <a:xfrm>
            <a:off x="1810512" y="4462272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FFF9F6"/>
          </a:solidFill>
          <a:ln w="7620">
            <a:solidFill>
              <a:srgbClr val="E4D9D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65376" y="4498848"/>
            <a:ext cx="103327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8B2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6,520 文档</a:t>
            </a:r>
            <a:endParaRPr lang="en-US" sz="860" dirty="0"/>
          </a:p>
        </p:txBody>
      </p:sp>
      <p:sp>
        <p:nvSpPr>
          <p:cNvPr id="13" name="Shape 10"/>
          <p:cNvSpPr/>
          <p:nvPr/>
        </p:nvSpPr>
        <p:spPr>
          <a:xfrm>
            <a:off x="3090672" y="4462272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FFF9F6"/>
          </a:solidFill>
          <a:ln w="7620">
            <a:solidFill>
              <a:srgbClr val="E4D9D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45536" y="4498848"/>
            <a:ext cx="103327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8B2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905,580 边</a:t>
            </a:r>
            <a:endParaRPr lang="en-US" sz="860" dirty="0"/>
          </a:p>
        </p:txBody>
      </p:sp>
      <p:sp>
        <p:nvSpPr>
          <p:cNvPr id="15" name="Text 12"/>
          <p:cNvSpPr/>
          <p:nvPr/>
        </p:nvSpPr>
        <p:spPr>
          <a:xfrm>
            <a:off x="566928" y="4864608"/>
            <a:ext cx="376732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FoodScience_KG_final_sharded 已形成 58,184 chunks、228,259 实体、905,580 关系的单项目大规模知识图谱。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66928" y="5349240"/>
            <a:ext cx="3767328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FAISS HNSW sidecar：entities / relationships 均启用 HNSW，ef_search=128。</a:t>
            </a:r>
            <a:endParaRPr lang="en-US" sz="920" dirty="0"/>
          </a:p>
        </p:txBody>
      </p:sp>
      <p:sp>
        <p:nvSpPr>
          <p:cNvPr id="17" name="Text 14"/>
          <p:cNvSpPr/>
          <p:nvPr/>
        </p:nvSpPr>
        <p:spPr>
          <a:xfrm>
            <a:off x="566928" y="5751576"/>
            <a:ext cx="376732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8B2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10/10 证据 chunk 稳定召回，无缓存命中干扰。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736592" y="960120"/>
            <a:ext cx="3401568" cy="2121408"/>
          </a:xfrm>
          <a:prstGeom prst="roundRect">
            <a:avLst>
              <a:gd name="adj" fmla="val 2586"/>
            </a:avLst>
          </a:prstGeom>
          <a:solidFill>
            <a:srgbClr val="FFFDFC"/>
          </a:solidFill>
          <a:ln w="10160">
            <a:solidFill>
              <a:srgbClr val="E8E2D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36592" y="960120"/>
            <a:ext cx="68580" cy="2121408"/>
          </a:xfrm>
          <a:prstGeom prst="rect">
            <a:avLst/>
          </a:prstGeom>
          <a:solidFill>
            <a:srgbClr val="2A8C85"/>
          </a:solidFill>
          <a:ln w="12700">
            <a:solidFill>
              <a:srgbClr val="2A8C85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01184" y="1088136"/>
            <a:ext cx="31089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2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239512" y="1078992"/>
            <a:ext cx="2743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8B2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证据图框架：多模态 + 可追溯</a:t>
            </a:r>
            <a:endParaRPr lang="en-US" sz="1320" dirty="0"/>
          </a:p>
        </p:txBody>
      </p:sp>
      <p:sp>
        <p:nvSpPr>
          <p:cNvPr id="22" name="Text 19"/>
          <p:cNvSpPr/>
          <p:nvPr/>
        </p:nvSpPr>
        <p:spPr>
          <a:xfrm>
            <a:off x="4937760" y="1444752"/>
            <a:ext cx="301752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B2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331 证据链</a:t>
            </a:r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真实 chunk；</a:t>
            </a:r>
            <a:pPr indent="0" marL="0">
              <a:buNone/>
            </a:pPr>
            <a:r>
              <a:rPr lang="en-US" sz="1400" b="1" dirty="0">
                <a:solidFill>
                  <a:srgbClr val="8B2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伪出处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937760" y="2167128"/>
            <a:ext cx="301752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MinerU、AST chunk、图片语义回写、表格/宽表行级拆分统一进入 ERC 异构证据图。</a:t>
            </a:r>
            <a:endParaRPr lang="en-US" sz="930" dirty="0"/>
          </a:p>
        </p:txBody>
      </p:sp>
      <p:sp>
        <p:nvSpPr>
          <p:cNvPr id="24" name="Shape 21"/>
          <p:cNvSpPr/>
          <p:nvPr/>
        </p:nvSpPr>
        <p:spPr>
          <a:xfrm>
            <a:off x="8485632" y="960120"/>
            <a:ext cx="3401568" cy="2121408"/>
          </a:xfrm>
          <a:prstGeom prst="roundRect">
            <a:avLst>
              <a:gd name="adj" fmla="val 2586"/>
            </a:avLst>
          </a:prstGeom>
          <a:solidFill>
            <a:srgbClr val="FFFDFC"/>
          </a:solidFill>
          <a:ln w="10160">
            <a:solidFill>
              <a:srgbClr val="E8E2D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485632" y="960120"/>
            <a:ext cx="68580" cy="2121408"/>
          </a:xfrm>
          <a:prstGeom prst="rect">
            <a:avLst/>
          </a:prstGeom>
          <a:solidFill>
            <a:srgbClr val="C66A2E"/>
          </a:solidFill>
          <a:ln w="12700">
            <a:solidFill>
              <a:srgbClr val="C66A2E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650224" y="1088136"/>
            <a:ext cx="31089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2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8988552" y="1078992"/>
            <a:ext cx="2743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8B2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混合检索：覆盖率与正确性提升</a:t>
            </a:r>
            <a:endParaRPr lang="en-US" sz="1320" dirty="0"/>
          </a:p>
        </p:txBody>
      </p:sp>
      <p:sp>
        <p:nvSpPr>
          <p:cNvPr id="28" name="Text 25"/>
          <p:cNvSpPr/>
          <p:nvPr/>
        </p:nvSpPr>
        <p:spPr>
          <a:xfrm>
            <a:off x="8686800" y="1444752"/>
            <a:ext cx="301752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B2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+34.1%</a:t>
            </a:r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实体召回覆盖；</a:t>
            </a:r>
            <a:pPr indent="0" marL="0">
              <a:buNone/>
            </a:pPr>
            <a:r>
              <a:rPr lang="en-US" sz="1400" b="1" dirty="0">
                <a:solidFill>
                  <a:srgbClr val="8B2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+51.8%</a:t>
            </a:r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Graph Recall@K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686800" y="2167128"/>
            <a:ext cx="301752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B7 required coverage 相比 B0 提升 47.3%，下游 QA correctness 提升 8.4%，说明证据覆盖收益能传导到答案质量。</a:t>
            </a:r>
            <a:endParaRPr lang="en-US" sz="930" dirty="0"/>
          </a:p>
        </p:txBody>
      </p:sp>
      <p:sp>
        <p:nvSpPr>
          <p:cNvPr id="30" name="Shape 27"/>
          <p:cNvSpPr/>
          <p:nvPr/>
        </p:nvSpPr>
        <p:spPr>
          <a:xfrm>
            <a:off x="4736592" y="3401568"/>
            <a:ext cx="3401568" cy="2121408"/>
          </a:xfrm>
          <a:prstGeom prst="roundRect">
            <a:avLst>
              <a:gd name="adj" fmla="val 2586"/>
            </a:avLst>
          </a:prstGeom>
          <a:solidFill>
            <a:srgbClr val="FFFDFC"/>
          </a:solidFill>
          <a:ln w="10160">
            <a:solidFill>
              <a:srgbClr val="E8E2D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736592" y="3401568"/>
            <a:ext cx="68580" cy="2121408"/>
          </a:xfrm>
          <a:prstGeom prst="rect">
            <a:avLst/>
          </a:prstGeom>
          <a:solidFill>
            <a:srgbClr val="B9872D"/>
          </a:solidFill>
          <a:ln w="12700">
            <a:solidFill>
              <a:srgbClr val="B9872D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901184" y="3529584"/>
            <a:ext cx="31089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2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5239512" y="3520440"/>
            <a:ext cx="2743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8B2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服务器级加速：近 90 万关系向量</a:t>
            </a:r>
            <a:endParaRPr lang="en-US" sz="1320" dirty="0"/>
          </a:p>
        </p:txBody>
      </p:sp>
      <p:sp>
        <p:nvSpPr>
          <p:cNvPr id="34" name="Text 31"/>
          <p:cNvSpPr/>
          <p:nvPr/>
        </p:nvSpPr>
        <p:spPr>
          <a:xfrm>
            <a:off x="4937760" y="3886200"/>
            <a:ext cx="301752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B2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75.76s → 6.59s</a:t>
            </a:r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pPr indent="0" marL="0">
              <a:buNone/>
            </a:pPr>
            <a:r>
              <a:rPr lang="en-US" sz="1400" b="1" dirty="0">
                <a:solidFill>
                  <a:srgbClr val="8B2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-91.3% / 11.5×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4937760" y="4608576"/>
            <a:ext cx="301752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关系向量检索 54.15s → 0.018s，降幅 99.97%；实体检索 15.16s → 0.017s，降幅 99.9%。</a:t>
            </a:r>
            <a:endParaRPr lang="en-US" sz="930" dirty="0"/>
          </a:p>
        </p:txBody>
      </p:sp>
      <p:sp>
        <p:nvSpPr>
          <p:cNvPr id="36" name="Shape 33"/>
          <p:cNvSpPr/>
          <p:nvPr/>
        </p:nvSpPr>
        <p:spPr>
          <a:xfrm>
            <a:off x="8485632" y="3401568"/>
            <a:ext cx="3401568" cy="2121408"/>
          </a:xfrm>
          <a:prstGeom prst="roundRect">
            <a:avLst>
              <a:gd name="adj" fmla="val 2586"/>
            </a:avLst>
          </a:prstGeom>
          <a:solidFill>
            <a:srgbClr val="FFFDFC"/>
          </a:solidFill>
          <a:ln w="10160">
            <a:solidFill>
              <a:srgbClr val="E8E2D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485632" y="3401568"/>
            <a:ext cx="68580" cy="2121408"/>
          </a:xfrm>
          <a:prstGeom prst="rect">
            <a:avLst/>
          </a:prstGeom>
          <a:solidFill>
            <a:srgbClr val="8B2F2B"/>
          </a:solidFill>
          <a:ln w="12700">
            <a:solidFill>
              <a:srgbClr val="8B2F2B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650224" y="3529584"/>
            <a:ext cx="31089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2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8988552" y="3520440"/>
            <a:ext cx="2743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8B2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跨系统效果：答案与证据质量领先</a:t>
            </a:r>
            <a:endParaRPr lang="en-US" sz="1320" dirty="0"/>
          </a:p>
        </p:txBody>
      </p:sp>
      <p:sp>
        <p:nvSpPr>
          <p:cNvPr id="40" name="Text 37"/>
          <p:cNvSpPr/>
          <p:nvPr/>
        </p:nvSpPr>
        <p:spPr>
          <a:xfrm>
            <a:off x="8686800" y="3886200"/>
            <a:ext cx="301752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B2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RAgent-FAISS 7.72 / 7.46</a:t>
            </a:r>
            <a:pPr indent="0" marL="0">
              <a:buNone/>
            </a:pPr>
            <a:r>
              <a:rPr lang="en-US" sz="112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（LLM / Rule）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8686800" y="4608576"/>
            <a:ext cx="301752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优于 enhanced-md Milvus 6.78/4.90 与 baseline 5.67/4.74；证据质量 2.80/3，较 enhanced 提升约 177%，Rule 8/8、LLM 6/8 题型领先。</a:t>
            </a:r>
            <a:endParaRPr lang="en-US" sz="930" dirty="0"/>
          </a:p>
        </p:txBody>
      </p:sp>
      <p:sp>
        <p:nvSpPr>
          <p:cNvPr id="42" name="Shape 39"/>
          <p:cNvSpPr/>
          <p:nvPr/>
        </p:nvSpPr>
        <p:spPr>
          <a:xfrm>
            <a:off x="4736592" y="5843016"/>
            <a:ext cx="7150608" cy="9144"/>
          </a:xfrm>
          <a:prstGeom prst="rect">
            <a:avLst/>
          </a:prstGeom>
          <a:solidFill>
            <a:srgbClr val="E7DED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736592" y="5989320"/>
            <a:ext cx="715060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8B2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</a:t>
            </a:r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RAgent 的优势不止是“能回答”，而是把证据构建、检索召回、推理生成和规模化性能统一到可审计链路中。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475488" y="6519672"/>
            <a:ext cx="1106424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数据口径：ERC 消融 + FoodScience_KG_final_sharded retrieval-only + DQE-Bench 四系统评测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RAgent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RAgent 知识图谱框架创新与量化效果</dc:title>
  <dc:subject>RAgent KG innovation and quantified evaluation summary</dc:subject>
  <dc:creator>RAgent Project Team</dc:creator>
  <cp:lastModifiedBy>RAgent Project Team</cp:lastModifiedBy>
  <cp:revision>1</cp:revision>
  <dcterms:created xsi:type="dcterms:W3CDTF">2026-06-10T08:05:16Z</dcterms:created>
  <dcterms:modified xsi:type="dcterms:W3CDTF">2026-06-10T08:05:16Z</dcterms:modified>
</cp:coreProperties>
</file>